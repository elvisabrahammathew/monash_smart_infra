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d92837a0641ca" /><Relationship Type="http://schemas.openxmlformats.org/officeDocument/2006/relationships/extended-properties" Target="/docProps/app.xml" Id="Ra7534286f4eb4e17" /><Relationship Type="http://schemas.openxmlformats.org/officeDocument/2006/relationships/officeDocument" Target="/ppt/presentation.xml" Id="R3505d94e05d94c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e51f0873544f04"/>
  </p:sldMasterIdLst>
  <p:notesMasterIdLst>
    <p:notesMasterId xmlns:r="http://schemas.openxmlformats.org/officeDocument/2006/relationships" r:id="R9d6e023809414fac"/>
  </p:notesMasterIdLst>
  <p:sldIdLst>
    <p:sldId xmlns:r="http://schemas.openxmlformats.org/officeDocument/2006/relationships" id="256" r:id="Raae667945adc406f"/>
    <p:sldId xmlns:r="http://schemas.openxmlformats.org/officeDocument/2006/relationships" id="257" r:id="Rbd8477b556d04813"/>
    <p:sldId xmlns:r="http://schemas.openxmlformats.org/officeDocument/2006/relationships" id="258" r:id="R68c0bf789dc04dda"/>
    <p:sldId xmlns:r="http://schemas.openxmlformats.org/officeDocument/2006/relationships" id="259" r:id="Rf2269d91f5cb48eb"/>
    <p:sldId xmlns:r="http://schemas.openxmlformats.org/officeDocument/2006/relationships" id="260" r:id="R6eeec98ef4524a3c"/>
    <p:sldId xmlns:r="http://schemas.openxmlformats.org/officeDocument/2006/relationships" id="261" r:id="R0731d709d1de40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93d9cd39f54c67" /><Relationship Type="http://schemas.openxmlformats.org/officeDocument/2006/relationships/slideMaster" Target="/ppt/slideMasters/slideMaster1.xml" Id="R6ee51f0873544f04" /><Relationship Type="http://schemas.openxmlformats.org/officeDocument/2006/relationships/notesMaster" Target="/ppt/notesMasters/notesMaster1.xml" Id="R9d6e023809414fac" /><Relationship Type="http://schemas.openxmlformats.org/officeDocument/2006/relationships/presProps" Target="/ppt/presProps.xml" Id="Ra269bf8d63f843d9" /><Relationship Type="http://schemas.openxmlformats.org/officeDocument/2006/relationships/tableStyles" Target="/ppt/tableStyles.xml" Id="Ra6e6b9af499b4f6b" /><Relationship Type="http://schemas.openxmlformats.org/officeDocument/2006/relationships/slide" Target="/ppt/slides/slide1.xml" Id="Raae667945adc406f" /><Relationship Type="http://schemas.openxmlformats.org/officeDocument/2006/relationships/slide" Target="/ppt/slides/slide2.xml" Id="Rbd8477b556d04813" /><Relationship Type="http://schemas.openxmlformats.org/officeDocument/2006/relationships/slide" Target="/ppt/slides/slide3.xml" Id="R68c0bf789dc04dda" /><Relationship Type="http://schemas.openxmlformats.org/officeDocument/2006/relationships/slide" Target="/ppt/slides/slide4.xml" Id="Rf2269d91f5cb48eb" /><Relationship Type="http://schemas.openxmlformats.org/officeDocument/2006/relationships/slide" Target="/ppt/slides/slide5.xml" Id="R6eeec98ef4524a3c" /><Relationship Type="http://schemas.openxmlformats.org/officeDocument/2006/relationships/slide" Target="/ppt/slides/slide6.xml" Id="R0731d709d1de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881abc41245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e724d1c3b54ecd" /><Relationship Type="http://schemas.openxmlformats.org/officeDocument/2006/relationships/notesMaster" Target="/ppt/notesMasters/notesMaster1.xml" Id="R45db252aec5f4f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63a45155b54322" /><Relationship Type="http://schemas.openxmlformats.org/officeDocument/2006/relationships/notesMaster" Target="/ppt/notesMasters/notesMaster1.xml" Id="R9d5f49e7eda645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8152ec6e0c4c29" /><Relationship Type="http://schemas.openxmlformats.org/officeDocument/2006/relationships/notesMaster" Target="/ppt/notesMasters/notesMaster1.xml" Id="R5d8902f9388246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36f57fc0a4b22" /><Relationship Type="http://schemas.openxmlformats.org/officeDocument/2006/relationships/notesMaster" Target="/ppt/notesMasters/notesMaster1.xml" Id="R48193c263e5a4c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65d4cd1dcb4958" /><Relationship Type="http://schemas.openxmlformats.org/officeDocument/2006/relationships/notesMaster" Target="/ppt/notesMasters/notesMaster1.xml" Id="R6cb9bac7f82b40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2ff0b2e9a64222" /><Relationship Type="http://schemas.openxmlformats.org/officeDocument/2006/relationships/notesMaster" Target="/ppt/notesMasters/notesMaster1.xml" Id="R7d5dc051ca2140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f73b60bc045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f53f7253b4e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79864274f4f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2c4ea510048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64d857a2849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c2fae1c654d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EE4676-58A7-47BE-98F7-E718609327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B90145-5C41-4C8A-B2FF-5F44E01F5E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25C052-CB0E-4082-9219-B6462316B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26D16F-708A-4B9A-AF61-49526F955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F58B42-96E3-4DC3-8623-92089968CD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ABFB45-993B-4940-B2C5-27BA75D30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AAD1A8-2B37-418F-A950-939F18935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DE32B7-4595-4AEB-A56B-F5102C5B2B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97B88B-9431-41F7-9DB9-FACDB5B75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BEA7FE-B972-4675-B729-D56645B268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67537ed874b18" /><Relationship Type="http://schemas.openxmlformats.org/officeDocument/2006/relationships/slideLayout" Target="/ppt/slideLayouts/slideLayout1.xml" Id="R84e3d86fd2024044" /><Relationship Type="http://schemas.openxmlformats.org/officeDocument/2006/relationships/slideLayout" Target="/ppt/slideLayouts/slideLayout2.xml" Id="R64edd9086e684862" /><Relationship Type="http://schemas.openxmlformats.org/officeDocument/2006/relationships/slideLayout" Target="/ppt/slideLayouts/slideLayout3.xml" Id="R594c36c6d5ff4264" /><Relationship Type="http://schemas.openxmlformats.org/officeDocument/2006/relationships/slideLayout" Target="/ppt/slideLayouts/slideLayout4.xml" Id="R63162a34891d4bf0" /><Relationship Type="http://schemas.openxmlformats.org/officeDocument/2006/relationships/slideLayout" Target="/ppt/slideLayouts/slideLayout5.xml" Id="Rcf71c007974040d7" /><Relationship Type="http://schemas.openxmlformats.org/officeDocument/2006/relationships/slideLayout" Target="/ppt/slideLayouts/slideLayout6.xml" Id="Rdf057aa2ae43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e3d86fd2024044"/>
    <p:sldLayoutId xmlns:r="http://schemas.openxmlformats.org/officeDocument/2006/relationships" id="2147483650" r:id="R64edd9086e684862"/>
    <p:sldLayoutId xmlns:r="http://schemas.openxmlformats.org/officeDocument/2006/relationships" id="2147483651" r:id="R594c36c6d5ff4264"/>
    <p:sldLayoutId xmlns:r="http://schemas.openxmlformats.org/officeDocument/2006/relationships" id="2147483652" r:id="R63162a34891d4bf0"/>
    <p:sldLayoutId xmlns:r="http://schemas.openxmlformats.org/officeDocument/2006/relationships" id="2147483653" r:id="Rcf71c007974040d7"/>
    <p:sldLayoutId xmlns:r="http://schemas.openxmlformats.org/officeDocument/2006/relationships" id="2147483654" r:id="Rdf057aa2ae43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33e6876304ac8" /><Relationship Type="http://schemas.openxmlformats.org/officeDocument/2006/relationships/notesSlide" Target="/ppt/notesSlides/notesSlide1.xml" Id="R0773c2be2d3142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ca1a7abb64ea8" /><Relationship Type="http://schemas.openxmlformats.org/officeDocument/2006/relationships/notesSlide" Target="/ppt/notesSlides/notesSlide2.xml" Id="Ra85f33ecec5148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146cbd389453d" /><Relationship Type="http://schemas.openxmlformats.org/officeDocument/2006/relationships/notesSlide" Target="/ppt/notesSlides/notesSlide3.xml" Id="R7480e0338e57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43541b65d417b" /><Relationship Type="http://schemas.openxmlformats.org/officeDocument/2006/relationships/notesSlide" Target="/ppt/notesSlides/notesSlide4.xml" Id="R002294abb7da4e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07152cd18455a" /><Relationship Type="http://schemas.openxmlformats.org/officeDocument/2006/relationships/chart" Target="/ppt/slides/charts/chart1.xml" Id="Rd8a77f70e1ac4361" /><Relationship Type="http://schemas.openxmlformats.org/officeDocument/2006/relationships/notesSlide" Target="/ppt/notesSlides/notesSlide5.xml" Id="R77daddb20f8446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eaafa702f4735" /><Relationship Type="http://schemas.openxmlformats.org/officeDocument/2006/relationships/notesSlide" Target="/ppt/notesSlides/notesSlide6.xml" Id="Rd2e7f096173545d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Persistence final-test MAE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15 min</c:v>
              </c:pt>
              <c:pt idx="1">
                <c:v>30 min</c:v>
              </c:pt>
              <c:pt idx="2">
                <c:v>60 min</c:v>
              </c:pt>
            </c:strLit>
          </c:cat>
          <c:val>
            <c:numLit>
              <c:formatCode>General</c:formatCode>
              <c:ptCount val="3"/>
              <c:pt idx="0">
                <c:v>0.407</c:v>
              </c:pt>
              <c:pt idx="1">
                <c:v>0.461</c:v>
              </c:pt>
              <c:pt idx="2">
                <c:v>0.547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MAE (people)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27966-C541-4E6E-894B-2D458C74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MMA3001 • BUILDING 60, ROOM G.25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2A122-DF68-4F85-ADE7-6E7938C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Short-term occupancy forecasting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075CC-8AF6-4576-AC25-0775B7B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07098-B627-4A77-BFE0-2567C99E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Can we predict headcount 30 minutes ahead</a:t>
            </a:r>
          </a:p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for ventilation and HVAC planning?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C9680-C1E0-4AEA-ABFB-4C9F4665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Scope: one room • sensor-derived headcount • May–December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4A299-6EBE-43C5-A852-06FEA8A4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A forecast supports planning; it does not prove energy savings or control HVAC.</a:t>
            </a:r>
          </a:p>
        </p:txBody>
      </p:sp>
    </p:spTree>
    <p:extLst>
      <p:ext uri="{BB962C8B-B14F-4D97-AF65-F5344CB8AC3E}">
        <p14:creationId xmlns:p14="http://schemas.microsoft.com/office/powerpoint/2010/main" val="368784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E3A87-313A-4070-8E3C-7F3B4198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DATA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251A6-FA7C-4122-B8F0-89230F2B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Data audit protects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96821-C042-448D-9D4B-E8E24E52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D3E6C-6209-458D-B6CF-D88F2E1F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643,290 G.25 occupancy events → 23,516 regular 15-minute bins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09341-716A-456D-9A06-49D9836A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Raw headcount range: 0–35 people; median event gap: 4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89EE0-30AC-4CD1-B229-01A74216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Maximum outage: 21.6 hours. Carry forward limited to 60 minutes; longer gaps remain missing.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DF373-34C2-464B-87CD-5F46AA61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Environmental variables excluded: no validated co-located G.25 mapping.</a:t>
            </a:r>
          </a:p>
        </p:txBody>
      </p:sp>
    </p:spTree>
    <p:extLst>
      <p:ext uri="{BB962C8B-B14F-4D97-AF65-F5344CB8AC3E}">
        <p14:creationId xmlns:p14="http://schemas.microsoft.com/office/powerpoint/2010/main" val="1452618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F6784-5873-420F-B679-664BBF02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E4675-20D8-41FF-BECD-07F89D0E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Leakage-safe forecasting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4EBD1-1942-4462-A5EC-7E9AC44E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35B4A-E807-4A74-9141-444DC7AF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Chunk-read the 9-million-row archive, filter the uniquely mapped G.25 floor-space 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E7340-1EE6-47E4-B805-2FDA1BC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Features: current/lagged headcount, rolling history, time of day, weekday and weekend.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40962-221E-43ED-A240-F83385E7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Target: headcount two 15-minute intervals ahead. Future value is excluded from predictors.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AC657-6DE4-4C20-A169-5A0B49DC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Chronological 60% training / 20% validation / 20% final test; timestamps are never shuffled.</a:t>
            </a:r>
          </a:p>
        </p:txBody>
      </p:sp>
    </p:spTree>
    <p:extLst>
      <p:ext uri="{BB962C8B-B14F-4D97-AF65-F5344CB8AC3E}">
        <p14:creationId xmlns:p14="http://schemas.microsoft.com/office/powerpoint/2010/main" val="1041796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0F0B8-21E6-4303-9B03-9525F19A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5BB7E-BB80-495E-8368-B7E28E9D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Validation selects the model; testing challenges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7833D-C2B0-415B-BE56-FF516AC4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AD2CD-14A8-419A-859D-53D9CC31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30-minute validation 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1F23E-4DB5-4FD6-A0E8-BFC6BBBE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Ridge regression: 1.084 people (selected)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4A29F-583D-449A-951D-D88A2629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SVR: 1.133 • Decision tree: 1.140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EA309-130E-4CC0-A603-8036BEEB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Persistence: 1.152 • Weekday/time: 1.451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F3F56-F25D-4181-A610-E3648CEE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30-minute final-test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8BFB6-FDBC-43E1-AD12-9C1D96EA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Persistence: 0.461 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6F03C-16B1-43DC-ABB6-2A35DBF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SVR: 0.509 • Ridge: 0.588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CD25F-7434-4C08-85A5-64BE3B32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147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Decision tree: 0.591 • Weekday/time: 1.168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732ED-1737-4168-B4A8-B9AD8C1F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Ridge was selected before the test. Persistence later won MAE, revealing changed room behaviour.</a:t>
            </a:r>
          </a:p>
        </p:txBody>
      </p:sp>
    </p:spTree>
    <p:extLst>
      <p:ext uri="{BB962C8B-B14F-4D97-AF65-F5344CB8AC3E}">
        <p14:creationId xmlns:p14="http://schemas.microsoft.com/office/powerpoint/2010/main" val="1169407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970E7-F2F4-40B2-95B2-6F619AFE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HORIZON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5E28-A974-412A-8FEF-346CD9E8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Sensitivity: shorter forecasts are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01300-C259-40AF-B738-3C4B8187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B0F6FF7-6EA9-4B90-858E-39B8CCCB7EA5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742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a77f70e1ac436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1996C-F6E8-40D1-BBBF-FFE6557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Use a simple 15-minute persistence baseline for the most accurate tested operational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Longer horizons increase uncertainty.</a:t>
            </a:r>
          </a:p>
        </p:txBody>
      </p:sp>
    </p:spTree>
    <p:extLst>
      <p:ext uri="{BB962C8B-B14F-4D97-AF65-F5344CB8AC3E}">
        <p14:creationId xmlns:p14="http://schemas.microsoft.com/office/powerpoint/2010/main" val="14155607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697BC-C73B-4480-B0CC-05BCFEA1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0DC32-242C-4C82-85E3-902CE275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Repository evidence and responsible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B9F9C-7C59-4884-9122-3A240D4D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A0B6-EAD4-4C55-B44B-B02E2F2D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src/occupancy: documented extraction, features, models, pipeline and sensitivity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1A861-862C-47BB-BEEB-8F06664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tests: 5 passing tests; results/test-report.html records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01E77-2F15-448C-9873-2277A74C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docs/html: generated source-code documentation; docs/TEST_AND_VIEW.md gives exact commands.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5C314-C317-4D9D-AFBF-DA394F94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Limitations: one room, no independent ground truth, long outage, uncertain environmental mapping.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9650C-C37D-4259-AB1B-F6A0F3D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Next: validate mapping/manual counts and test additional rooms before any control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04D45-3998-4E3D-976B-C114BD1C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AI use was disclosed; the student must be able to explain every decision and result.</a:t>
            </a:r>
          </a:p>
        </p:txBody>
      </p:sp>
    </p:spTree>
    <p:extLst>
      <p:ext uri="{BB962C8B-B14F-4D97-AF65-F5344CB8AC3E}">
        <p14:creationId xmlns:p14="http://schemas.microsoft.com/office/powerpoint/2010/main" val="157016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2026-10-09T11:35:33.3690000Z</dcterms:created>
  <dcterms:modified xsi:type="dcterms:W3CDTF">2026-10-09T11:35:33.3690000Z</dcterms:modified>
</coreProperties>
</file>