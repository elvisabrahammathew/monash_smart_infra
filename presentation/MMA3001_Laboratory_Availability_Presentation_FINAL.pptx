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89a8289a8849dc" /><Relationship Type="http://schemas.openxmlformats.org/officeDocument/2006/relationships/extended-properties" Target="/docProps/app.xml" Id="R76bfd54b81c64532" /><Relationship Type="http://schemas.openxmlformats.org/officeDocument/2006/relationships/officeDocument" Target="/ppt/presentation.xml" Id="Rc2e0864f33fb43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c0652f8a274f78"/>
  </p:sldMasterIdLst>
  <p:notesMasterIdLst>
    <p:notesMasterId xmlns:r="http://schemas.openxmlformats.org/officeDocument/2006/relationships" r:id="R5cac6385786b4dd3"/>
  </p:notesMasterIdLst>
  <p:sldIdLst>
    <p:sldId xmlns:r="http://schemas.openxmlformats.org/officeDocument/2006/relationships" id="256" r:id="R452b2c5c8a634fc5"/>
    <p:sldId xmlns:r="http://schemas.openxmlformats.org/officeDocument/2006/relationships" id="257" r:id="R5a358ee4fe254a41"/>
    <p:sldId xmlns:r="http://schemas.openxmlformats.org/officeDocument/2006/relationships" id="258" r:id="R47f9b38a3d20454a"/>
    <p:sldId xmlns:r="http://schemas.openxmlformats.org/officeDocument/2006/relationships" id="259" r:id="R23fe993a8c194cd0"/>
    <p:sldId xmlns:r="http://schemas.openxmlformats.org/officeDocument/2006/relationships" id="260" r:id="R1d679884f6914f22"/>
    <p:sldId xmlns:r="http://schemas.openxmlformats.org/officeDocument/2006/relationships" id="261" r:id="Rc376e06c55224f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bbf63de6814609" /><Relationship Type="http://schemas.openxmlformats.org/officeDocument/2006/relationships/slideMaster" Target="/ppt/slideMasters/slideMaster1.xml" Id="Rb3c0652f8a274f78" /><Relationship Type="http://schemas.openxmlformats.org/officeDocument/2006/relationships/notesMaster" Target="/ppt/notesMasters/notesMaster1.xml" Id="R5cac6385786b4dd3" /><Relationship Type="http://schemas.openxmlformats.org/officeDocument/2006/relationships/presProps" Target="/ppt/presProps.xml" Id="R70f9ffc099264b7c" /><Relationship Type="http://schemas.openxmlformats.org/officeDocument/2006/relationships/tableStyles" Target="/ppt/tableStyles.xml" Id="R4f0047b0bfa44ebd" /><Relationship Type="http://schemas.openxmlformats.org/officeDocument/2006/relationships/slide" Target="/ppt/slides/slide1.xml" Id="R452b2c5c8a634fc5" /><Relationship Type="http://schemas.openxmlformats.org/officeDocument/2006/relationships/slide" Target="/ppt/slides/slide2.xml" Id="R5a358ee4fe254a41" /><Relationship Type="http://schemas.openxmlformats.org/officeDocument/2006/relationships/slide" Target="/ppt/slides/slide3.xml" Id="R47f9b38a3d20454a" /><Relationship Type="http://schemas.openxmlformats.org/officeDocument/2006/relationships/slide" Target="/ppt/slides/slide4.xml" Id="R23fe993a8c194cd0" /><Relationship Type="http://schemas.openxmlformats.org/officeDocument/2006/relationships/slide" Target="/ppt/slides/slide5.xml" Id="R1d679884f6914f22" /><Relationship Type="http://schemas.openxmlformats.org/officeDocument/2006/relationships/slide" Target="/ppt/slides/slide6.xml" Id="Rc376e06c55224f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77f3e58aca4d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9ce94683724852" /><Relationship Type="http://schemas.openxmlformats.org/officeDocument/2006/relationships/notesMaster" Target="/ppt/notesMasters/notesMaster1.xml" Id="R149fefdc7ef142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95c0c6c4dd42d2" /><Relationship Type="http://schemas.openxmlformats.org/officeDocument/2006/relationships/notesMaster" Target="/ppt/notesMasters/notesMaster1.xml" Id="R1adffc91e35744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0a0d66577143ea" /><Relationship Type="http://schemas.openxmlformats.org/officeDocument/2006/relationships/notesMaster" Target="/ppt/notesMasters/notesMaster1.xml" Id="R6a36a638676f45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097fbf0fdb4eed" /><Relationship Type="http://schemas.openxmlformats.org/officeDocument/2006/relationships/notesMaster" Target="/ppt/notesMasters/notesMaster1.xml" Id="Rdd120e750e1941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77de0b7918421a" /><Relationship Type="http://schemas.openxmlformats.org/officeDocument/2006/relationships/notesMaster" Target="/ppt/notesMasters/notesMaster1.xml" Id="Re2bb463d7d8746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47cde9114c497d" /><Relationship Type="http://schemas.openxmlformats.org/officeDocument/2006/relationships/notesMaster" Target="/ppt/notesMasters/notesMaster1.xml" Id="R05b158a78e1746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10fc2cf66d44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e41c973e4742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8a57fb73ec43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dcecfef3543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78e75f635c4a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4e265fe634d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B278FF-2F51-4E56-9990-B58247F259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20298DE-5EE2-4A47-AF67-360A4BAC8DA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802C3E7-777E-4BD4-BC8B-00114F4F06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96A949-E97E-4C86-A204-F8244C73E0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7B3B188-5B14-43C3-847C-314A0E7161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183B51-61C9-4A19-82A3-D30891FE1B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58D4D2-D62B-4179-ACDA-74CAC14419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6B620AA-1FC5-48B1-AAF8-285979FEA0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DC71FB-64FE-4067-AA2D-B758EE4B35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DD8542-C0FC-4ADE-95BF-1842DE9F80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024ce111714a99" /><Relationship Type="http://schemas.openxmlformats.org/officeDocument/2006/relationships/slideLayout" Target="/ppt/slideLayouts/slideLayout1.xml" Id="Rba6d09d6ace04f2d" /><Relationship Type="http://schemas.openxmlformats.org/officeDocument/2006/relationships/slideLayout" Target="/ppt/slideLayouts/slideLayout2.xml" Id="Rc6e638602f7b4071" /><Relationship Type="http://schemas.openxmlformats.org/officeDocument/2006/relationships/slideLayout" Target="/ppt/slideLayouts/slideLayout3.xml" Id="R6baf2d1fe4a94f7c" /><Relationship Type="http://schemas.openxmlformats.org/officeDocument/2006/relationships/slideLayout" Target="/ppt/slideLayouts/slideLayout4.xml" Id="R55fb65eea0894f32" /><Relationship Type="http://schemas.openxmlformats.org/officeDocument/2006/relationships/slideLayout" Target="/ppt/slideLayouts/slideLayout5.xml" Id="Rbe506ea34fc94580" /><Relationship Type="http://schemas.openxmlformats.org/officeDocument/2006/relationships/slideLayout" Target="/ppt/slideLayouts/slideLayout6.xml" Id="R90ee3ee9f6bc43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6d09d6ace04f2d"/>
    <p:sldLayoutId xmlns:r="http://schemas.openxmlformats.org/officeDocument/2006/relationships" id="2147483650" r:id="Rc6e638602f7b4071"/>
    <p:sldLayoutId xmlns:r="http://schemas.openxmlformats.org/officeDocument/2006/relationships" id="2147483651" r:id="R6baf2d1fe4a94f7c"/>
    <p:sldLayoutId xmlns:r="http://schemas.openxmlformats.org/officeDocument/2006/relationships" id="2147483652" r:id="R55fb65eea0894f32"/>
    <p:sldLayoutId xmlns:r="http://schemas.openxmlformats.org/officeDocument/2006/relationships" id="2147483653" r:id="Rbe506ea34fc94580"/>
    <p:sldLayoutId xmlns:r="http://schemas.openxmlformats.org/officeDocument/2006/relationships" id="2147483654" r:id="R90ee3ee9f6bc43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374c71f7f74a07" /><Relationship Type="http://schemas.openxmlformats.org/officeDocument/2006/relationships/notesSlide" Target="/ppt/notesSlides/notesSlide1.xml" Id="R30b472e734ff41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29a8583fb64527" /><Relationship Type="http://schemas.openxmlformats.org/officeDocument/2006/relationships/notesSlide" Target="/ppt/notesSlides/notesSlide2.xml" Id="Rb337412d14e940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c480415e2b4b41" /><Relationship Type="http://schemas.openxmlformats.org/officeDocument/2006/relationships/notesSlide" Target="/ppt/notesSlides/notesSlide3.xml" Id="R3b725784936c4c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0e938d1e994fda" /><Relationship Type="http://schemas.openxmlformats.org/officeDocument/2006/relationships/notesSlide" Target="/ppt/notesSlides/notesSlide4.xml" Id="Rc319e01139114c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3ad28dc7dd4599" /><Relationship Type="http://schemas.openxmlformats.org/officeDocument/2006/relationships/chart" Target="/ppt/slides/charts/chart1.xml" Id="R2161c09d4b484d01" /><Relationship Type="http://schemas.openxmlformats.org/officeDocument/2006/relationships/notesSlide" Target="/ppt/notesSlides/notesSlide5.xml" Id="R952bb0ae94e14b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17904d7ecd4b1f" /><Relationship Type="http://schemas.openxmlformats.org/officeDocument/2006/relationships/notesSlide" Target="/ppt/notesSlides/notesSlide6.xml" Id="R72fd6ed66ab74c2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Persistence final-test MAE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3"/>
              <c:pt idx="0">
                <c:v>15 min</c:v>
              </c:pt>
              <c:pt idx="1">
                <c:v>30 min</c:v>
              </c:pt>
              <c:pt idx="2">
                <c:v>60 min</c:v>
              </c:pt>
            </c:strLit>
          </c:cat>
          <c:val>
            <c:numLit>
              <c:formatCode>General</c:formatCode>
              <c:ptCount val="3"/>
              <c:pt idx="0">
                <c:v>0.407</c:v>
              </c:pt>
              <c:pt idx="1">
                <c:v>0.461</c:v>
              </c:pt>
              <c:pt idx="2">
                <c:v>0.547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MAE (people)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D60E7-0E19-4B86-BA1A-E6959061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MMA3001 • BUILDING 60, ROOM G.25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2DE8F-8699-47AF-9ECB-EC041C03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Smart laboratory availability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C2DE9-4FCB-437A-BCF3-BA064551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961DF-084E-4738-8803-332830AD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923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Will the lab be available in 30 minutes</a:t>
            </a:r>
          </a:p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for ad hoc booking and study-space use?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5D152-B06E-4288-9ABE-1BB2675C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Scope: one room • sensor-derived headcount • available when count ≤ 0.5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A4111-D481-4FED-9B72-1047FAA9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An availability signal supports planning; it is not a confirmed booking or access decision.</a:t>
            </a:r>
          </a:p>
        </p:txBody>
      </p:sp>
    </p:spTree>
    <p:extLst>
      <p:ext uri="{BB962C8B-B14F-4D97-AF65-F5344CB8AC3E}">
        <p14:creationId xmlns:p14="http://schemas.microsoft.com/office/powerpoint/2010/main" val="9126807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1C207-1250-4203-8BE8-0E75777C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DATA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13DD4-EF69-4520-B0A8-7C0D69EB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Data audit protects the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0C287-27C1-442F-AF1C-B120E036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F07D4-E9B3-41F1-9C04-B9A5FB5F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643,290 G.25 occupancy events → 23,516 regular 15-minute bins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E6294-9E6C-411F-862E-CE12A2D0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Raw headcount range: 0–35 people; median event gap: 4 seconds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CC9F4-6175-4206-B943-3149B654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Maximum outage: 21.6 hours. Carry forward limited to 60 minutes; longer gaps remain missing.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2A01F-A8AF-4272-B9CB-6CA44887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Environmental variables excluded: no validated co-located G.25 mapping.</a:t>
            </a:r>
          </a:p>
        </p:txBody>
      </p:sp>
    </p:spTree>
    <p:extLst>
      <p:ext uri="{BB962C8B-B14F-4D97-AF65-F5344CB8AC3E}">
        <p14:creationId xmlns:p14="http://schemas.microsoft.com/office/powerpoint/2010/main" val="17613788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F6BA0-FF71-4BAE-908C-60569CF5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0D5CE-8356-4773-8ED9-360957CC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Leakage-safe availability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B3776-15BF-4F2C-BBC5-B5430C27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DB2C3-C6F0-4F2B-A49B-1627F231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Chunk-read the 9-million-row archive, filter the uniquely mapped G.25 floor-space 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9A7A3-7B28-4FE3-AFD9-CB7CB9C9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Features: current/lagged headcount, rolling history, time of day, weekday and weekend.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19BD3-705B-4FE6-9659-740DE0B2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Forecast headcount two intervals ahead, then label ≤ 0.5 people as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5B1B4-8D29-4934-BCC1-FC8F2E53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Chronological 60% training / 20% validation / 20% final test; timestamps are never shuffled.</a:t>
            </a:r>
          </a:p>
        </p:txBody>
      </p:sp>
    </p:spTree>
    <p:extLst>
      <p:ext uri="{BB962C8B-B14F-4D97-AF65-F5344CB8AC3E}">
        <p14:creationId xmlns:p14="http://schemas.microsoft.com/office/powerpoint/2010/main" val="7781403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00F695-856D-425F-8AD2-0EDB6719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MODEL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E346E-3CB2-49FA-A27E-DD59ED3E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Validation selects the model; testing challenges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94AFD-3D79-4997-A481-6D060DB1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67F35-E53E-4D45-82F2-A7D06003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30-minute validation MAE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FA9AF-EADF-44AB-A4C8-8AB65E5D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Ridge regression: 1.080 people (selected)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54047-E6DC-4665-B64D-702F77D0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SVR: 1.131 • Decision tree: 1.140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50807-3252-4F51-B3A2-8B7B6090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Persistence: 1.152 • Weekday/time: 1.451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F7C9E-876E-4579-9822-2489767A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30-minute final-test MAE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20889-9DFF-491B-BD51-2DA86554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Persistence: 0.461 people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9C80F-DE09-4573-865A-17AF828A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241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SVR: 0.507 • Ridge: 0.579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1C088-379F-434D-A425-C1822CE8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147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Decision tree: 0.591 • Weekday/time: 1.168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12B60-060D-4070-9C63-0C31B182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287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Ridge was selected before the test. Persistence later won MAE, revealing changed room behaviour.</a:t>
            </a:r>
          </a:p>
        </p:txBody>
      </p:sp>
    </p:spTree>
    <p:extLst>
      <p:ext uri="{BB962C8B-B14F-4D97-AF65-F5344CB8AC3E}">
        <p14:creationId xmlns:p14="http://schemas.microsoft.com/office/powerpoint/2010/main" val="13387796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260A0-015C-4E9A-937E-055301AB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OPERATIONAL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1BBF1-75DD-4BB1-BA3D-AA7ABBA8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Availability signal and sensitivity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80017-6645-4162-B38A-F01AF0CB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2C8DB17-2D3F-464F-9171-7793D4CA6CDC}"/>
              </a:ext>
            </a:extLst>
          </p:cNvPr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5905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61c09d4b484d0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8583C-3564-4E8A-9BB8-E9EADF78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Selected ridge availability signal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Accuracy: 64.6%</a:t>
            </a:r>
          </a:p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Precision: 88.1%</a:t>
            </a:r>
          </a:p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Recall: 53.8%</a:t>
            </a:r>
          </a:p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F1: 66.8%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Use as a cautious advisory signal, not a booking guarantee.</a:t>
            </a:r>
          </a:p>
        </p:txBody>
      </p:sp>
    </p:spTree>
    <p:extLst>
      <p:ext uri="{BB962C8B-B14F-4D97-AF65-F5344CB8AC3E}">
        <p14:creationId xmlns:p14="http://schemas.microsoft.com/office/powerpoint/2010/main" val="7596302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B52D0-BA06-445E-B372-500EFE46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5681E-1C4F-4FBE-92AE-F246B069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Repository evidence and responsible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AFFF4-50C5-4668-BDBF-53FBD549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E99CA-ED77-4631-9E2B-10980636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src/occupancy: documented extraction, features, models, pipeline and sensitivity analysis.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5802F-FB15-45B5-9C94-2340938F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tests: 6 passing tests; results/test-report.html records verification.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5CD7A-45AE-4515-9FD9-48A6EBAF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docs/html: generated source-code documentation; docs/TEST_AND_VIEW.md gives exact commands.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C3BD1-8326-4097-BBC9-F87FE7B2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Limitations: one room, no confirmed bookings, long outage, uncertain environmental mapping.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F28BD-C28E-4A9E-A7C1-BDEE7ECD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Next: validate against bookings/manual counts and test additional rooms.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A00EB-9F65-4F3E-B967-CEE18973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AI use was disclosed; the student must be able to explain every decision and result.</a:t>
            </a:r>
          </a:p>
        </p:txBody>
      </p:sp>
    </p:spTree>
    <p:extLst>
      <p:ext uri="{BB962C8B-B14F-4D97-AF65-F5344CB8AC3E}">
        <p14:creationId xmlns:p14="http://schemas.microsoft.com/office/powerpoint/2010/main" val="14780813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2026-10-11T06:36:40.6680000Z</dcterms:created>
  <dcterms:modified xsi:type="dcterms:W3CDTF">2026-10-11T06:36:40.6690000Z</dcterms:modified>
</coreProperties>
</file>