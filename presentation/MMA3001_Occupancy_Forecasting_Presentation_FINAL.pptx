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f1848ef014d13" /><Relationship Type="http://schemas.openxmlformats.org/officeDocument/2006/relationships/extended-properties" Target="/docProps/app.xml" Id="R4c3c24fa59624947" /><Relationship Type="http://schemas.openxmlformats.org/officeDocument/2006/relationships/officeDocument" Target="/ppt/presentation.xml" Id="R505af802ab93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e394bba09b412b"/>
  </p:sldMasterIdLst>
  <p:notesMasterIdLst>
    <p:notesMasterId xmlns:r="http://schemas.openxmlformats.org/officeDocument/2006/relationships" r:id="R455836f502ae4f3e"/>
  </p:notesMasterIdLst>
  <p:sldIdLst>
    <p:sldId xmlns:r="http://schemas.openxmlformats.org/officeDocument/2006/relationships" id="256" r:id="R78fd77dfd13e43ec"/>
    <p:sldId xmlns:r="http://schemas.openxmlformats.org/officeDocument/2006/relationships" id="257" r:id="R8f6846f882c24469"/>
    <p:sldId xmlns:r="http://schemas.openxmlformats.org/officeDocument/2006/relationships" id="258" r:id="R89389c0019684da4"/>
    <p:sldId xmlns:r="http://schemas.openxmlformats.org/officeDocument/2006/relationships" id="259" r:id="R912a2c82afb7420c"/>
    <p:sldId xmlns:r="http://schemas.openxmlformats.org/officeDocument/2006/relationships" id="260" r:id="Rf03059137b604cf4"/>
    <p:sldId xmlns:r="http://schemas.openxmlformats.org/officeDocument/2006/relationships" id="261" r:id="R531e9dc6f7084d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c4161ff6924065" /><Relationship Type="http://schemas.openxmlformats.org/officeDocument/2006/relationships/slideMaster" Target="/ppt/slideMasters/slideMaster1.xml" Id="R29e394bba09b412b" /><Relationship Type="http://schemas.openxmlformats.org/officeDocument/2006/relationships/notesMaster" Target="/ppt/notesMasters/notesMaster1.xml" Id="R455836f502ae4f3e" /><Relationship Type="http://schemas.openxmlformats.org/officeDocument/2006/relationships/presProps" Target="/ppt/presProps.xml" Id="Ra36ef53ae8514778" /><Relationship Type="http://schemas.openxmlformats.org/officeDocument/2006/relationships/tableStyles" Target="/ppt/tableStyles.xml" Id="Rc375854e56734d70" /><Relationship Type="http://schemas.openxmlformats.org/officeDocument/2006/relationships/slide" Target="/ppt/slides/slide1.xml" Id="R78fd77dfd13e43ec" /><Relationship Type="http://schemas.openxmlformats.org/officeDocument/2006/relationships/slide" Target="/ppt/slides/slide2.xml" Id="R8f6846f882c24469" /><Relationship Type="http://schemas.openxmlformats.org/officeDocument/2006/relationships/slide" Target="/ppt/slides/slide3.xml" Id="R89389c0019684da4" /><Relationship Type="http://schemas.openxmlformats.org/officeDocument/2006/relationships/slide" Target="/ppt/slides/slide4.xml" Id="R912a2c82afb7420c" /><Relationship Type="http://schemas.openxmlformats.org/officeDocument/2006/relationships/slide" Target="/ppt/slides/slide5.xml" Id="Rf03059137b604cf4" /><Relationship Type="http://schemas.openxmlformats.org/officeDocument/2006/relationships/slide" Target="/ppt/slides/slide6.xml" Id="R531e9dc6f7084d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b079187537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8f91d715ea4043" /><Relationship Type="http://schemas.openxmlformats.org/officeDocument/2006/relationships/notesMaster" Target="/ppt/notesMasters/notesMaster1.xml" Id="Rd69986ddc5a24e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dc7de37d24539" /><Relationship Type="http://schemas.openxmlformats.org/officeDocument/2006/relationships/notesMaster" Target="/ppt/notesMasters/notesMaster1.xml" Id="Rf715c6f5f3d049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6fc310c3f242a3" /><Relationship Type="http://schemas.openxmlformats.org/officeDocument/2006/relationships/notesMaster" Target="/ppt/notesMasters/notesMaster1.xml" Id="Rb0ee67283f1d4a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6572015f6f48d6" /><Relationship Type="http://schemas.openxmlformats.org/officeDocument/2006/relationships/notesMaster" Target="/ppt/notesMasters/notesMaster1.xml" Id="R86624151eaa64f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343d783ece494e" /><Relationship Type="http://schemas.openxmlformats.org/officeDocument/2006/relationships/notesMaster" Target="/ppt/notesMasters/notesMaster1.xml" Id="Rdc1bfd18ae104f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08d3d6978043e9" /><Relationship Type="http://schemas.openxmlformats.org/officeDocument/2006/relationships/notesMaster" Target="/ppt/notesMasters/notesMaster1.xml" Id="R96b74e6612b044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7f0b4d49849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cdba8073748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93ecc179749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be852ea0449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dcc65fb4b42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f54dd57b249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D97E07-AC5E-460E-926E-7A4777CCB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962933-B3BB-42D8-9177-CC860280F1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5AB8CA-0627-4374-8AAD-5A6E61B2E4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F253A2-DF19-4289-8ADE-EE775FC98B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E7554F-2596-4991-9387-D8C95D18BB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53D037-AC15-481E-8527-0145F0D57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A1EFC8-6F9F-41C2-A67B-BB806BBBE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B49FB0-C387-40D1-965E-9883F5F6A1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BC286C-AA32-41D0-A8E3-4BB4B2466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32087D-E3BF-454A-8BF2-B215F6F40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d9cc1265344bf" /><Relationship Type="http://schemas.openxmlformats.org/officeDocument/2006/relationships/slideLayout" Target="/ppt/slideLayouts/slideLayout1.xml" Id="Rb6870e6e8a734759" /><Relationship Type="http://schemas.openxmlformats.org/officeDocument/2006/relationships/slideLayout" Target="/ppt/slideLayouts/slideLayout2.xml" Id="R0aaa0198146f405a" /><Relationship Type="http://schemas.openxmlformats.org/officeDocument/2006/relationships/slideLayout" Target="/ppt/slideLayouts/slideLayout3.xml" Id="R2c2a8e771a824397" /><Relationship Type="http://schemas.openxmlformats.org/officeDocument/2006/relationships/slideLayout" Target="/ppt/slideLayouts/slideLayout4.xml" Id="R181e2ff4ea7a453d" /><Relationship Type="http://schemas.openxmlformats.org/officeDocument/2006/relationships/slideLayout" Target="/ppt/slideLayouts/slideLayout5.xml" Id="R69507c9ad4ee4a9b" /><Relationship Type="http://schemas.openxmlformats.org/officeDocument/2006/relationships/slideLayout" Target="/ppt/slideLayouts/slideLayout6.xml" Id="R0636fd8d0ba843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70e6e8a734759"/>
    <p:sldLayoutId xmlns:r="http://schemas.openxmlformats.org/officeDocument/2006/relationships" id="2147483650" r:id="R0aaa0198146f405a"/>
    <p:sldLayoutId xmlns:r="http://schemas.openxmlformats.org/officeDocument/2006/relationships" id="2147483651" r:id="R2c2a8e771a824397"/>
    <p:sldLayoutId xmlns:r="http://schemas.openxmlformats.org/officeDocument/2006/relationships" id="2147483652" r:id="R181e2ff4ea7a453d"/>
    <p:sldLayoutId xmlns:r="http://schemas.openxmlformats.org/officeDocument/2006/relationships" id="2147483653" r:id="R69507c9ad4ee4a9b"/>
    <p:sldLayoutId xmlns:r="http://schemas.openxmlformats.org/officeDocument/2006/relationships" id="2147483654" r:id="R0636fd8d0ba843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10cd67f6441a7" /><Relationship Type="http://schemas.openxmlformats.org/officeDocument/2006/relationships/notesSlide" Target="/ppt/notesSlides/notesSlide1.xml" Id="Rf2b25b93d88e43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af213b67e04ef3" /><Relationship Type="http://schemas.openxmlformats.org/officeDocument/2006/relationships/notesSlide" Target="/ppt/notesSlides/notesSlide2.xml" Id="R629fa5f8246547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31fe86abe4a79" /><Relationship Type="http://schemas.openxmlformats.org/officeDocument/2006/relationships/notesSlide" Target="/ppt/notesSlides/notesSlide3.xml" Id="R45e18e55c50541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3f1e830fa492b" /><Relationship Type="http://schemas.openxmlformats.org/officeDocument/2006/relationships/notesSlide" Target="/ppt/notesSlides/notesSlide4.xml" Id="R75c844575a18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77cf917cc49c5" /><Relationship Type="http://schemas.openxmlformats.org/officeDocument/2006/relationships/chart" Target="/ppt/slides/charts/chart1.xml" Id="Rd8259d6aff704ce6" /><Relationship Type="http://schemas.openxmlformats.org/officeDocument/2006/relationships/notesSlide" Target="/ppt/notesSlides/notesSlide5.xml" Id="R147ac6d7e07849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43f62d0f34e84" /><Relationship Type="http://schemas.openxmlformats.org/officeDocument/2006/relationships/notesSlide" Target="/ppt/notesSlides/notesSlide6.xml" Id="R530904bb3bc14b6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Persistence final-test MAE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15 min</c:v>
              </c:pt>
              <c:pt idx="1">
                <c:v>30 min</c:v>
              </c:pt>
              <c:pt idx="2">
                <c:v>60 min</c:v>
              </c:pt>
            </c:strLit>
          </c:cat>
          <c:val>
            <c:numLit>
              <c:formatCode>General</c:formatCode>
              <c:ptCount val="3"/>
              <c:pt idx="0">
                <c:v>0.407</c:v>
              </c:pt>
              <c:pt idx="1">
                <c:v>0.461</c:v>
              </c:pt>
              <c:pt idx="2">
                <c:v>0.547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MAE (people)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5B0AE-F211-4FB8-953F-B68183DE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MMA3001 • BUILDING 60, ROOM G.25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659B3-7211-4CFB-B391-5278AF3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Short-term occupancy forecasting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E6CC7-63DF-4DF1-993F-1D835D1E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7F968-EB9F-42FB-BD84-7DF31E27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Can we predict headcount 30 minutes ahead</a:t>
            </a:r>
          </a:p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for ventilation and HVAC planning?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0128B-FD48-4AFE-8FB8-07AFE226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Scope: one room • sensor-derived headcount • May–December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1D73D-F0EF-4ABA-A570-804EA0B8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A forecast supports planning; it does not prove energy savings or control HVAC.</a:t>
            </a:r>
          </a:p>
        </p:txBody>
      </p:sp>
    </p:spTree>
    <p:extLst>
      <p:ext uri="{BB962C8B-B14F-4D97-AF65-F5344CB8AC3E}">
        <p14:creationId xmlns:p14="http://schemas.microsoft.com/office/powerpoint/2010/main" val="1065257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9A9C5-D698-4A7B-83D8-241E1E1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DATA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FEB0A-8697-432A-B690-EB59059D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Data audit protects the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93E4E-1E15-4478-A04D-97EB19FF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5E13E-7171-4782-AAA9-696D7880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643,290 G.25 occupancy events → 23,516 regular 15-minute bins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F8AE-FFFC-4EFB-BD55-9FDB5FA8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Raw headcount range: 0–35 people; median event gap: 4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FA702-1C9F-43AB-8173-6B3D0C8E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Maximum outage: 21.6 hours. Carry forward limited to 60 minutes; longer gaps remain missing.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FA908-B87F-4D6A-90E4-E74B24B4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Environmental variables excluded: no validated co-located G.25 mapping.</a:t>
            </a:r>
          </a:p>
        </p:txBody>
      </p:sp>
    </p:spTree>
    <p:extLst>
      <p:ext uri="{BB962C8B-B14F-4D97-AF65-F5344CB8AC3E}">
        <p14:creationId xmlns:p14="http://schemas.microsoft.com/office/powerpoint/2010/main" val="1965846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A6D8F-D787-40D4-AAEC-5EAAD691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387EB-3A20-4FDC-A50C-D1CF0ECF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Leakage-safe forecasting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5C7CA-8932-48B0-92D5-531E7F2F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7BC6F-D24C-462A-8068-0E9DC090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Chunk-read the 9-million-row archive, filter the uniquely mapped G.25 floor-space 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D9964-8ADA-4845-A2F1-5419FF3D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Features: current/lagged headcount, rolling history, time of day, weekday and weekend.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BBC41-CFC9-49F7-9F3F-54C09090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Target: headcount two 15-minute intervals ahead. Future value is excluded from predictors.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B7531-FCBD-4E73-BF6D-7874F84D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Chronological 60% training / 20% validation / 20% final test; timestamps are never shuffled.</a:t>
            </a:r>
          </a:p>
        </p:txBody>
      </p:sp>
    </p:spTree>
    <p:extLst>
      <p:ext uri="{BB962C8B-B14F-4D97-AF65-F5344CB8AC3E}">
        <p14:creationId xmlns:p14="http://schemas.microsoft.com/office/powerpoint/2010/main" val="1496931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5F8E2-6B3B-48CA-9AED-CE04E32A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4A0B3-E564-4B89-ADD5-0755C5E6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Validation selects the model; testing challenges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72E1D-E3F8-4E8E-AC35-BD4AF014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BD951-E65E-4BA6-95C2-3F4D84AC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30-minute validation 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2B9C7-2E1B-42BA-A663-C6E41C71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Ridge regression: 1.080 people (selected)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325B7-903C-4009-ACAE-85F1FAB5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SVR: 1.131 • Decision tree: 1.140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739F7-F7AE-405D-9D94-73B0FE18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Persistence: 1.152 • Weekday/time: 1.451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85510-8F4B-41AF-B62E-5B05C67E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30-minute final-test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94D33-B703-4A90-9B21-A0235B25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Persistence: 0.461 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2AF4C-E02F-4694-8797-EF9BD998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24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SVR: 0.507 • Ridge: 0.579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34821-E1C2-4CB5-9B0B-EB0A4839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147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Decision tree: 0.591 • Weekday/time: 1.168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93989-C1C3-4273-AE32-1254357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Ridge was selected before the test. Persistence later won MAE, revealing changed room behaviour.</a:t>
            </a:r>
          </a:p>
        </p:txBody>
      </p:sp>
    </p:spTree>
    <p:extLst>
      <p:ext uri="{BB962C8B-B14F-4D97-AF65-F5344CB8AC3E}">
        <p14:creationId xmlns:p14="http://schemas.microsoft.com/office/powerpoint/2010/main" val="2063320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4575-AB57-4D9E-8EF6-9EA1B0C6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HORIZON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9CA7D-7413-4947-ABA6-B0D5A090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Sensitivity: shorter forecasts are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A47EA-3BB9-4F53-8437-5E7FA876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0BFDB86-967B-4547-AFEC-55C0C11C9933}"/>
              </a:ext>
            </a:extLst>
          </p:cNvPr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742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259d6aff704ce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E7CC6-E419-431E-AE47-87A2D59F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Use a simple 15-minute persistence baseline for the most accurate tested operational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Longer horizons increase uncertainty.</a:t>
            </a:r>
          </a:p>
        </p:txBody>
      </p:sp>
    </p:spTree>
    <p:extLst>
      <p:ext uri="{BB962C8B-B14F-4D97-AF65-F5344CB8AC3E}">
        <p14:creationId xmlns:p14="http://schemas.microsoft.com/office/powerpoint/2010/main" val="2082002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40F9C-7D7D-4639-A6B1-187DE784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342A4-6483-46A4-B005-A2D7787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F172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Repository evidence and responsible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54D58-79F1-455F-A689-51E015A4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D6DB8-3DBC-4014-829E-00C13EE0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src/occupancy: documented extraction, features, models, pipeline and sensitivity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57128-8C4C-46CB-878C-19F25DED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tests: 5 passing tests; results/test-report.html records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A1E90-3253-49FA-B323-2678352A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docs/html: generated source-code documentation; docs/TEST_AND_VIEW.md gives exact commands.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A63C2-4FFA-423D-92C7-DC766A74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Limitations: one room, no independent ground truth, long outage, uncertain environmental mapping.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9C794-AFF5-4BC3-BD77-79282F72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755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• Next: validate mapping/manual counts and test additional rooms before any control application.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17904-5BB1-4D40-A471-0657C6AE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AI use was disclosed; the student must be able to explain every decision and result.</a:t>
            </a:r>
          </a:p>
        </p:txBody>
      </p:sp>
    </p:spTree>
    <p:extLst>
      <p:ext uri="{BB962C8B-B14F-4D97-AF65-F5344CB8AC3E}">
        <p14:creationId xmlns:p14="http://schemas.microsoft.com/office/powerpoint/2010/main" val="1848022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2026-10-10T11:01:30.0150000Z</dcterms:created>
  <dcterms:modified xsi:type="dcterms:W3CDTF">2026-10-10T11:01:30.0150000Z</dcterms:modified>
</coreProperties>
</file>